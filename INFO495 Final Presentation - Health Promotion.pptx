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Lora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Christopher Beal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ora-bold.fntdata"/><Relationship Id="rId41" Type="http://schemas.openxmlformats.org/officeDocument/2006/relationships/font" Target="fonts/Lora-regular.fntdata"/><Relationship Id="rId22" Type="http://schemas.openxmlformats.org/officeDocument/2006/relationships/slide" Target="slides/slide16.xml"/><Relationship Id="rId44" Type="http://schemas.openxmlformats.org/officeDocument/2006/relationships/font" Target="fonts/Lora-boldItalic.fntdata"/><Relationship Id="rId21" Type="http://schemas.openxmlformats.org/officeDocument/2006/relationships/slide" Target="slides/slide15.xml"/><Relationship Id="rId43" Type="http://schemas.openxmlformats.org/officeDocument/2006/relationships/font" Target="fonts/Lora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15T21:20:45.984">
    <p:pos x="6000" y="0"/>
    <p:text>Keep but cut text</p:text>
  </p:cm>
  <p:cm authorId="0" idx="2" dt="2026-04-15T21:21:21.471">
    <p:pos x="6000" y="100"/>
    <p:text>Make it punchy:
Improve resource planning
Identify student needs
Support better event decisions
Increase efficiency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4-24T05:09:22.207">
    <p:pos x="-6" y="5"/>
    <p:text>Arent pie charts Bad for visuals, and not allowed to use them, isnt that like rule 1 of graphs? im just remembering that  now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8c733ee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88c733ee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814d82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7814d82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8c733ee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88c733ee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88c733ee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88c733ee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8c733ee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8c733ee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88c733ee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88c733ee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7814d82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7814d82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88c733ee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88c733ee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88c733ee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88c733ee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88c733ee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88c733ee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88c733ee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88c733ee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88c733ee3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88c733ee3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8c25c997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8c25c997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8a6673b1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8a6673b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978c1871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978c1871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67dea6b9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67dea6b9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8a6673b1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8a6673b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67dea6b9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d67dea6b9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978c187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978c187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8a6673b1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8a6673b1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6bd836d6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6bd836d6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6bd836d6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6bd836d6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6bd836d6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6bd836d6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6bd836d6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6bd836d6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67dea6b9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67dea6b9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6bd836d6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6bd836d6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8a6673b1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8a6673b1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8a6673b1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d8a6673b1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8a6673b1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8a6673b1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67dea6b97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67dea6b9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67dea6b9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67dea6b9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2536e279a_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d2536e279a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63b2a19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63b2a19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8.jpg"/><Relationship Id="rId6" Type="http://schemas.openxmlformats.org/officeDocument/2006/relationships/image" Target="../media/image3.jpg"/><Relationship Id="rId7" Type="http://schemas.openxmlformats.org/officeDocument/2006/relationships/image" Target="../media/image37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2.xml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54" name="Google Shape;54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5" name="Google Shape;55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6" name="Google Shape;56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7" name="Google Shape;57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ctrTitle"/>
          </p:nvPr>
        </p:nvSpPr>
        <p:spPr>
          <a:xfrm>
            <a:off x="311708" y="884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latin typeface="Lora"/>
                <a:ea typeface="Lora"/>
                <a:cs typeface="Lora"/>
                <a:sym typeface="Lora"/>
              </a:rPr>
              <a:t>Health Promotion Analysis</a:t>
            </a:r>
            <a:endParaRPr sz="51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INFO 495</a:t>
            </a:r>
            <a:endParaRPr b="1" sz="3500">
              <a:solidFill>
                <a:srgbClr val="D1190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2937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08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8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Christopher Beals, Fatir Sheikh, Jacob Liebross, Damjan Dimitrovski</a:t>
            </a:r>
            <a:endParaRPr sz="208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0" name="Google Shape;60;p13" title="VERT_OfficeOfHealthPromotion_HEX.png"/>
          <p:cNvPicPr preferRelativeResize="0"/>
          <p:nvPr/>
        </p:nvPicPr>
        <p:blipFill rotWithShape="1">
          <a:blip r:embed="rId4">
            <a:alphaModFix/>
          </a:blip>
          <a:srcRect b="0" l="0" r="0" t="48705"/>
          <a:stretch/>
        </p:blipFill>
        <p:spPr>
          <a:xfrm>
            <a:off x="3508425" y="823775"/>
            <a:ext cx="2127149" cy="5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992550" y="3675475"/>
            <a:ext cx="71589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Sponsors</a:t>
            </a:r>
            <a:r>
              <a:rPr lang="en" sz="2000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Marie Cascarano &amp; John Han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2" name="Google Shape;62;p13" title="VERT_OfficeOfHealthPromotion_HEX.png"/>
          <p:cNvPicPr preferRelativeResize="0"/>
          <p:nvPr/>
        </p:nvPicPr>
        <p:blipFill rotWithShape="1">
          <a:blip r:embed="rId4">
            <a:alphaModFix/>
          </a:blip>
          <a:srcRect b="77096" l="0" r="52390" t="0"/>
          <a:stretch/>
        </p:blipFill>
        <p:spPr>
          <a:xfrm>
            <a:off x="4021800" y="317275"/>
            <a:ext cx="1012726" cy="2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VERT_OfficeOfHealthPromotion_HEX.png"/>
          <p:cNvPicPr preferRelativeResize="0"/>
          <p:nvPr/>
        </p:nvPicPr>
        <p:blipFill rotWithShape="1">
          <a:blip r:embed="rId4">
            <a:alphaModFix/>
          </a:blip>
          <a:srcRect b="49798" l="0" r="9959" t="21347"/>
          <a:stretch/>
        </p:blipFill>
        <p:spPr>
          <a:xfrm>
            <a:off x="3614375" y="548075"/>
            <a:ext cx="1915251" cy="2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0166" l="4711" r="51098" t="12644"/>
          <a:stretch/>
        </p:blipFill>
        <p:spPr>
          <a:xfrm>
            <a:off x="12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71" name="Google Shape;71;p1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72" name="Google Shape;72;p1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73" name="Google Shape;73;p1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74" name="Google Shape;74;p1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33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Executive Summary</a:t>
            </a:r>
            <a:endParaRPr b="1">
              <a:solidFill>
                <a:srgbClr val="D1190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037050"/>
            <a:ext cx="85206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Analyzed student engagement using Tableau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Identified trends in visits, resources, and behavior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Found high repeat usage but low awareness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Provided recommendations to improve engagement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7363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ee Red Email For Signature Icon, Symbol. Download in SVG &amp; PNG Formats." id="83" name="Google Shape;83;p14"/>
          <p:cNvPicPr preferRelativeResize="0"/>
          <p:nvPr/>
        </p:nvPicPr>
        <p:blipFill rotWithShape="1">
          <a:blip r:embed="rId5">
            <a:alphaModFix/>
          </a:blip>
          <a:srcRect b="12429" l="0" r="0" t="9004"/>
          <a:stretch/>
        </p:blipFill>
        <p:spPr>
          <a:xfrm>
            <a:off x="337987" y="1157450"/>
            <a:ext cx="456774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Red Email For Signature Icon, Symbol. Download in SVG &amp; PNG Formats." id="84" name="Google Shape;84;p14"/>
          <p:cNvPicPr preferRelativeResize="0"/>
          <p:nvPr/>
        </p:nvPicPr>
        <p:blipFill rotWithShape="1">
          <a:blip r:embed="rId5">
            <a:alphaModFix/>
          </a:blip>
          <a:srcRect b="12429" l="0" r="0" t="9004"/>
          <a:stretch/>
        </p:blipFill>
        <p:spPr>
          <a:xfrm>
            <a:off x="337988" y="1516312"/>
            <a:ext cx="456774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Red Email For Signature Icon, Symbol. Download in SVG &amp; PNG Formats." id="85" name="Google Shape;85;p14"/>
          <p:cNvPicPr preferRelativeResize="0"/>
          <p:nvPr/>
        </p:nvPicPr>
        <p:blipFill rotWithShape="1">
          <a:blip r:embed="rId5">
            <a:alphaModFix/>
          </a:blip>
          <a:srcRect b="12429" l="0" r="0" t="9004"/>
          <a:stretch/>
        </p:blipFill>
        <p:spPr>
          <a:xfrm>
            <a:off x="337988" y="1915775"/>
            <a:ext cx="456774" cy="35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Red Email For Signature Icon, Symbol. Download in SVG &amp; PNG Formats." id="86" name="Google Shape;86;p14"/>
          <p:cNvPicPr preferRelativeResize="0"/>
          <p:nvPr/>
        </p:nvPicPr>
        <p:blipFill rotWithShape="1">
          <a:blip r:embed="rId5">
            <a:alphaModFix/>
          </a:blip>
          <a:srcRect b="12429" l="0" r="0" t="9004"/>
          <a:stretch/>
        </p:blipFill>
        <p:spPr>
          <a:xfrm>
            <a:off x="337988" y="2338650"/>
            <a:ext cx="456774" cy="35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91" name="Google Shape;91;p1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92" name="Google Shape;92;p1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93" name="Google Shape;93;p1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94" name="Google Shape;94;p1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311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Project Description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145225" y="959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Health Promotion collects Drop-In usage and event participation data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is unstructured and underutilized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Goal: extract insights to improve engagement and operations 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title="IMG_4807 (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3350" y="2073925"/>
            <a:ext cx="3170652" cy="2378001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imple red map pin icon. (Provided by Getty Images)" id="104" name="Google Shape;10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125" y="1052700"/>
            <a:ext cx="331151" cy="33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endar (Provided by Getty Images)" id="105" name="Google Shape;10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126" y="1642222"/>
            <a:ext cx="331151" cy="331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Designs PNG Transparent Background, Free Download #35402 - FreeIconsPNG" id="106" name="Google Shape;10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696768">
            <a:off x="284558" y="1409353"/>
            <a:ext cx="280285" cy="26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111" name="Google Shape;111;p1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12" name="Google Shape;112;p1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13" name="Google Shape;113;p1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14" name="Google Shape;114;p1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Business Problem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Lack of structured insights limits ability to optimize services and increase student engagement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7818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usiness man having problem in the work. Business man sitting in office. (Provided by Getty Images)"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788075"/>
            <a:ext cx="2494577" cy="1663849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128" name="Google Shape;128;p1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29" name="Google Shape;129;p1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30" name="Google Shape;130;p1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31" name="Google Shape;131;p1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Analytical Problem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can student engagement data be used to identify patterns and improve service delivery?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17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17" title="IMG_9042 (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675" y="1880175"/>
            <a:ext cx="3428999" cy="2571749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145" name="Google Shape;145;p1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46" name="Google Shape;146;p1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47" name="Google Shape;147;p1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48" name="Google Shape;148;p1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title"/>
          </p:nvPr>
        </p:nvSpPr>
        <p:spPr>
          <a:xfrm>
            <a:off x="311700" y="26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Stakeholders &amp; Business Questions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311700" y="94443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Stakeholders:</a:t>
            </a:r>
            <a:endParaRPr b="1"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Health Promotion Staff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Students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University Administration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Aligned Questions:</a:t>
            </a:r>
            <a:endParaRPr b="1"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resources should be prioritized? (Staff)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should services be staffed? (Operations)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can awareness be increased? (Marketing/Admin)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students are underrepresented? (University)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1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161" name="Google Shape;161;p19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62" name="Google Shape;162;p19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63" name="Google Shape;163;p19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64" name="Google Shape;164;p19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>
            <p:ph type="title"/>
          </p:nvPr>
        </p:nvSpPr>
        <p:spPr>
          <a:xfrm>
            <a:off x="311700" y="26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Stakeholders &amp; Business Questions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311700" y="94443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Stakeholders:</a:t>
            </a:r>
            <a:endParaRPr b="1"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Health Promotion Staff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Students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University Administration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Aligned Questions:</a:t>
            </a:r>
            <a:endParaRPr b="1"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resources should be prioritized? (Staff)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should services be staffed? (Operations)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can awareness be increased? (Marketing/Admin)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students are underrepresented? (University)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9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177" name="Google Shape;177;p20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78" name="Google Shape;178;p20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79" name="Google Shape;179;p20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80" name="Google Shape;180;p20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>
            <p:ph type="title"/>
          </p:nvPr>
        </p:nvSpPr>
        <p:spPr>
          <a:xfrm>
            <a:off x="311700" y="27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Business Benefits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311700" y="850800"/>
            <a:ext cx="4184700" cy="31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Improve resource allocation</a:t>
            </a:r>
            <a:br>
              <a:rPr b="1"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Identify high-demand resources (e.g., snacks, safer sex supplies) to better plan inventory</a:t>
            </a:r>
            <a:endParaRPr sz="1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Optimize service hours and operations</a:t>
            </a:r>
            <a:br>
              <a:rPr b="1"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Use engagement trends to align staffing with peak usage times</a:t>
            </a:r>
            <a:endParaRPr sz="1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Increase student engagement and awareness</a:t>
            </a:r>
            <a:br>
              <a:rPr b="1"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Identify gaps in participation, particularly among students who have never visited</a:t>
            </a:r>
            <a:endParaRPr b="1" sz="1805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0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704366" y="850800"/>
            <a:ext cx="43488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Support targeted outreach strategies</a:t>
            </a:r>
            <a:b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Use insights (e.g., freshmen engagement trends) to improve programming and workshops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Demonstrate program effectiveness</a:t>
            </a:r>
            <a:b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High return rates indicate strong student value and can be used to promote services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86" name="Google Shape;186;p20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0166" l="4711" r="51098" t="12644"/>
          <a:stretch/>
        </p:blipFill>
        <p:spPr>
          <a:xfrm>
            <a:off x="12" y="4459754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mployee benefits help to get the best human resources. Business concept.3d illustration (Provided by Getty Images)"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0726" y="3040371"/>
            <a:ext cx="3623276" cy="1422425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195" name="Google Shape;195;p2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96" name="Google Shape;196;p2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97" name="Google Shape;197;p2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198" name="Google Shape;198;p2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311700" y="33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Applying Data Analytics Lifecycle Methodologies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Business Understanding: Defined goals with Health Promotion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Understanding: Reviewed drop-in and event datasets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Preparation: Cleaned and structured multiple datasets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Analysis: Identified trends in usage and resource demand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Visualization: Built dashboard using Tableau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 Analysis for Business and Finance Concept (Provided by Getty Images)" id="207" name="Google Shape;20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1" y="3104350"/>
            <a:ext cx="2125624" cy="1329550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212" name="Google Shape;212;p2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13" name="Google Shape;213;p2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14" name="Google Shape;214;p2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15" name="Google Shape;215;p2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ora"/>
                <a:ea typeface="Lora"/>
                <a:cs typeface="Lora"/>
                <a:sym typeface="Lora"/>
              </a:rPr>
              <a:t>Data &amp; Methodology</a:t>
            </a:r>
            <a:endParaRPr b="1"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311700" y="938850"/>
            <a:ext cx="8520600" cy="19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Sources</a:t>
            </a:r>
            <a:endParaRPr b="1"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Drop-in center visit data (Fall &amp; Spring)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Event attendance data (Engage platform)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 survey responses (QR-based feedback)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Institutional Research data (aggregated student demographics)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311700" y="2703375"/>
            <a:ext cx="8356500" cy="1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Methodology</a:t>
            </a:r>
            <a:endParaRPr b="1"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cleaning and integration across multiple datasets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Descriptive analytics and trend analysis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Frequency analysis of resource usage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Exploration of relationships between </a:t>
            </a:r>
            <a:r>
              <a:rPr b="1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 attributes (grade level) and engagement</a:t>
            </a:r>
            <a:endParaRPr b="1"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22" name="Google Shape;222;p2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229" name="Google Shape;229;p2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30" name="Google Shape;230;p2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31" name="Google Shape;231;p2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32" name="Google Shape;232;p2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ora"/>
                <a:ea typeface="Lora"/>
                <a:cs typeface="Lora"/>
                <a:sym typeface="Lora"/>
              </a:rPr>
              <a:t>Data Challenges</a:t>
            </a:r>
            <a:endParaRPr b="1"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4" name="Google Shape;23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Multiple datasets (Fall, Spring, Events)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Inconsistent formats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Limited demographic data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Required extensive cleaning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23" title="IMG20230412124915 (1) (1) (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3675" y="1762625"/>
            <a:ext cx="3550326" cy="2669675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246" name="Google Shape;246;p2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47" name="Google Shape;247;p2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48" name="Google Shape;248;p2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49" name="Google Shape;249;p2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>
            <p:ph type="title"/>
          </p:nvPr>
        </p:nvSpPr>
        <p:spPr>
          <a:xfrm>
            <a:off x="311700" y="445025"/>
            <a:ext cx="84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ora"/>
                <a:ea typeface="Lora"/>
                <a:cs typeface="Lora"/>
                <a:sym typeface="Lora"/>
              </a:rPr>
              <a:t>Analytics Methods and Tools</a:t>
            </a:r>
            <a:endParaRPr b="1"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Tools Used</a:t>
            </a:r>
            <a:endParaRPr b="1"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Tableau (data visualization)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Excel (data cleaning and preparation)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Methods Used</a:t>
            </a:r>
            <a:endParaRPr b="1"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Descriptive analytics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Trend analysis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Frequency analysis </a:t>
            </a:r>
            <a:endParaRPr sz="23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0482" y="3031600"/>
            <a:ext cx="1237625" cy="123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7576" y="3122511"/>
            <a:ext cx="1105550" cy="104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264" name="Google Shape;264;p2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65" name="Google Shape;265;p2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66" name="Google Shape;266;p2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67" name="Google Shape;267;p2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ora"/>
                <a:ea typeface="Lora"/>
                <a:cs typeface="Lora"/>
                <a:sym typeface="Lora"/>
              </a:rPr>
              <a:t>Research Methodology</a:t>
            </a:r>
            <a:endParaRPr b="1" sz="2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9" name="Google Shape;26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Research Methodology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Focused on analyzing real-world student engagement data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Applied structured data cleaning and transformation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Used visualization to identify patterns and trends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ora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Followed a data analytics lifecycle approach (CRISP-DM)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1925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12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/>
          <p:nvPr/>
        </p:nvSpPr>
        <p:spPr>
          <a:xfrm>
            <a:off x="4184300" y="4457363"/>
            <a:ext cx="49698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print Comments Feedback Concept, Agile Methodologies Vector Color Icon Design, Software and web development symbol on white background, Computer Programming and Coding stock illustration (Provided by Getty Images)" id="276" name="Google Shape;27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380875"/>
            <a:ext cx="1071048" cy="107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281" name="Google Shape;281;p2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82" name="Google Shape;282;p2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83" name="Google Shape;283;p2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84" name="Google Shape;284;p2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1736550" y="354800"/>
            <a:ext cx="5670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Risk Assessment</a:t>
            </a:r>
            <a:endParaRPr b="1" sz="2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424850" y="1052500"/>
            <a:ext cx="84129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Risks:</a:t>
            </a:r>
            <a:endParaRPr b="1" sz="1800">
              <a:solidFill>
                <a:srgbClr val="D1190D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Delay in </a:t>
            </a: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receiving</a:t>
            </a: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Institutional Research Data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Data inconsistency across excel files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Limitations in demographic data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Mitigation:</a:t>
            </a:r>
            <a:endParaRPr b="1" sz="1800">
              <a:solidFill>
                <a:srgbClr val="D1190D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Standardized Data Cleaning Process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Focused Analysis on Available Data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Integrated Additional Data Provided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2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uman figure stands near a pile wood block text of RISK. Business, Risk Management, Solution, Insurance and strategy Concepts (Provided by Getty Images)" id="290" name="Google Shape;29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6729" y="2571750"/>
            <a:ext cx="2837268" cy="1891051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295" name="Google Shape;295;p2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96" name="Google Shape;296;p2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97" name="Google Shape;297;p2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298" name="Google Shape;298;p2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7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688" y="4457363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14661" y="4457363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title="Help Improve Health Promotion Services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7037" y="11413"/>
            <a:ext cx="3955714" cy="5120675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3" name="Google Shape;303;p27"/>
          <p:cNvPicPr preferRelativeResize="0"/>
          <p:nvPr/>
        </p:nvPicPr>
        <p:blipFill rotWithShape="1">
          <a:blip r:embed="rId6">
            <a:alphaModFix/>
          </a:blip>
          <a:srcRect b="9964" l="23267" r="19733" t="5232"/>
          <a:stretch/>
        </p:blipFill>
        <p:spPr>
          <a:xfrm>
            <a:off x="559900" y="433267"/>
            <a:ext cx="2708372" cy="4029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08" name="Google Shape;308;p2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09" name="Google Shape;309;p2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10" name="Google Shape;310;p2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19367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11" name="Google Shape;311;p2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8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2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688" y="4457363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14661" y="4457363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 title="Health Promotion Student Feedback Form (1)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5254" y="13"/>
            <a:ext cx="3445320" cy="4457375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28"/>
          <p:cNvPicPr preferRelativeResize="0"/>
          <p:nvPr/>
        </p:nvPicPr>
        <p:blipFill rotWithShape="1">
          <a:blip r:embed="rId6">
            <a:alphaModFix/>
          </a:blip>
          <a:srcRect b="11608" l="0" r="48920" t="1443"/>
          <a:stretch/>
        </p:blipFill>
        <p:spPr>
          <a:xfrm>
            <a:off x="6525346" y="26"/>
            <a:ext cx="2618655" cy="445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8" title="Health Promotion Student Feedback Form (1)-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25"/>
            <a:ext cx="3445344" cy="4457400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22" name="Google Shape;322;p29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/>
          <p:nvPr/>
        </p:nvSpPr>
        <p:spPr>
          <a:xfrm>
            <a:off x="0" y="4582773"/>
            <a:ext cx="9144000" cy="5640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ownload Gold Swirl Design Png PNG Image with No Background - PNGkey.com" id="324" name="Google Shape;324;p29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0166" l="4711" r="51098" t="12644"/>
          <a:stretch/>
        </p:blipFill>
        <p:spPr>
          <a:xfrm>
            <a:off x="-9807" y="4459754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9" title="Screenshot 2026-02-24 at 8.20.09 PM.png"/>
          <p:cNvPicPr preferRelativeResize="0"/>
          <p:nvPr/>
        </p:nvPicPr>
        <p:blipFill rotWithShape="1">
          <a:blip r:embed="rId5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What resources have you used? (Select all that apply). Number of responses: 97 responses." id="327" name="Google Shape;327;p29" title="What resources have you used? (Select all that apply)"/>
          <p:cNvPicPr preferRelativeResize="0"/>
          <p:nvPr/>
        </p:nvPicPr>
        <p:blipFill rotWithShape="1">
          <a:blip r:embed="rId6">
            <a:alphaModFix/>
          </a:blip>
          <a:srcRect b="8248" l="0" r="0" t="0"/>
          <a:stretch/>
        </p:blipFill>
        <p:spPr>
          <a:xfrm>
            <a:off x="-9800" y="2144575"/>
            <a:ext cx="5276549" cy="2438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What would make you more likely to visit Health Promotion? (Select up to 2). Number of responses: 99 responses." id="328" name="Google Shape;328;p29" title="What would make you more likely to visit Health Promotion? (Select up to 2)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9800" y="7975"/>
            <a:ext cx="5462897" cy="2307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29" name="Google Shape;329;p29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 txBox="1"/>
          <p:nvPr/>
        </p:nvSpPr>
        <p:spPr>
          <a:xfrm>
            <a:off x="5061325" y="925550"/>
            <a:ext cx="4082700" cy="29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~44% have never visited → awareness gap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Strong repeat usage → high satisfaction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Peak time = 1–3 PM → operational insight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Crafts &amp; snacks most used → engagement drivers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Students want more events &amp; awareness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31" name="Google Shape;331;p29"/>
          <p:cNvSpPr txBox="1"/>
          <p:nvPr>
            <p:ph type="title"/>
          </p:nvPr>
        </p:nvSpPr>
        <p:spPr>
          <a:xfrm>
            <a:off x="4868388" y="7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Survey Insights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36" name="Google Shape;336;p3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37" name="Google Shape;337;p3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38" name="Google Shape;338;p3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39" name="Google Shape;339;p3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Qualitative Research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30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 txBox="1"/>
          <p:nvPr/>
        </p:nvSpPr>
        <p:spPr>
          <a:xfrm>
            <a:off x="147600" y="885625"/>
            <a:ext cx="52587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Conducting focus groups with students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Comparing engagement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Goal: understand barriers to participation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344" name="Google Shape;344;p30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60664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ck of black woman standing in front of group during psychological session (Provided by Getty Images)" id="345" name="Google Shape;34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2651" y="2371550"/>
            <a:ext cx="3121352" cy="2080376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6" name="Google Shape;346;p30"/>
          <p:cNvSpPr txBox="1"/>
          <p:nvPr/>
        </p:nvSpPr>
        <p:spPr>
          <a:xfrm>
            <a:off x="147600" y="2213050"/>
            <a:ext cx="52587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“Hidden Gem on Campus, Cute Space and Interesting Events” - Focus Group Participant 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51" name="Google Shape;351;p3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52" name="Google Shape;352;p3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53" name="Google Shape;353;p3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54" name="Google Shape;354;p3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Focus Group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0" y="4466113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3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60664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123250" y="849800"/>
            <a:ext cx="47325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Key Themes</a:t>
            </a:r>
            <a:endParaRPr b="1"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Low awareness of Health Promotion services (mentioned 6+ times)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Engagement driven by social behavior (students attend with friends)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Higher engagement during freshman year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Positive experiences among users (friendly staff, welcoming environment)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Strong interest in events and interactive activities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5012025" y="849800"/>
            <a:ext cx="41322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Barriers to Engagement</a:t>
            </a:r>
            <a:endParaRPr b="1"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Lack of awareness and visibility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Limited outreach and marketing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Unclear location / building confusion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Lack of perceived need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Timing constraints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65" name="Google Shape;365;p3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66" name="Google Shape;366;p3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67" name="Google Shape;367;p3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68" name="Google Shape;368;p3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Focus Group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0" y="4466113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3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60664"/>
            <a:ext cx="2006575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 txBox="1"/>
          <p:nvPr/>
        </p:nvSpPr>
        <p:spPr>
          <a:xfrm>
            <a:off x="608025" y="887375"/>
            <a:ext cx="38865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Opportunities for Improvement</a:t>
            </a:r>
            <a:endParaRPr b="1"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Increase social media promotion and outreach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Expand event-based programming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Improve visibility of the location (signage, branding)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Promote available resources more clearly online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●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 more interactive and social experiences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4" name="Google Shape;374;p32"/>
          <p:cNvSpPr txBox="1"/>
          <p:nvPr/>
        </p:nvSpPr>
        <p:spPr>
          <a:xfrm>
            <a:off x="4716250" y="912025"/>
            <a:ext cx="4215000" cy="23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Key Quotes</a:t>
            </a:r>
            <a:endParaRPr b="1"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“Not many students know about Health Promotion.”</a:t>
            </a:r>
            <a:b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“I didn’t even know it existed.”</a:t>
            </a:r>
            <a:b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“I came with friends, it’s more of a group activity.”</a:t>
            </a:r>
            <a:b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“Would go if something caught my attention.”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79" name="Google Shape;379;p3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80" name="Google Shape;380;p3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81" name="Google Shape;381;p3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82" name="Google Shape;382;p3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Demographic Insights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 txBox="1"/>
          <p:nvPr/>
        </p:nvSpPr>
        <p:spPr>
          <a:xfrm>
            <a:off x="147600" y="885625"/>
            <a:ext cx="52587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Class year trends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Gender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Ethnicity 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Commuter / Resident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387" name="Google Shape;387;p3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60664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llege students talking (Provided by Getty Images)" id="388" name="Google Shape;38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149" y="2701575"/>
            <a:ext cx="3671849" cy="2441926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393" name="Google Shape;393;p3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94" name="Google Shape;394;p3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95" name="Google Shape;395;p3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396" name="Google Shape;396;p3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1289" y="0"/>
            <a:ext cx="5901422" cy="5143500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02" name="Google Shape;402;p3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03" name="Google Shape;403;p3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04" name="Google Shape;404;p3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05" name="Google Shape;405;p3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508" y="0"/>
            <a:ext cx="4100984" cy="5143500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11" name="Google Shape;411;p3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12" name="Google Shape;412;p3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13" name="Google Shape;413;p3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14" name="Google Shape;414;p3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55979"/>
            <a:ext cx="9143999" cy="3912192"/>
          </a:xfrm>
          <a:prstGeom prst="rect">
            <a:avLst/>
          </a:prstGeom>
          <a:noFill/>
          <a:ln cap="flat" cmpd="sng" w="19050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20" name="Google Shape;420;p3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21" name="Google Shape;421;p3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22" name="Google Shape;422;p3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23" name="Google Shape;423;p37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3235" y="0"/>
            <a:ext cx="4437530" cy="5143501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29" name="Google Shape;429;p3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30" name="Google Shape;430;p3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31" name="Google Shape;431;p3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32" name="Google Shape;432;p3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8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Key </a:t>
            </a:r>
            <a:r>
              <a:rPr b="1" lang="en">
                <a:latin typeface="Lora"/>
                <a:ea typeface="Lora"/>
                <a:cs typeface="Lora"/>
                <a:sym typeface="Lora"/>
              </a:rPr>
              <a:t>Resource</a:t>
            </a:r>
            <a:r>
              <a:rPr b="1" lang="en">
                <a:latin typeface="Lora"/>
                <a:ea typeface="Lora"/>
                <a:cs typeface="Lora"/>
                <a:sym typeface="Lora"/>
              </a:rPr>
              <a:t> Insights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3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8"/>
          <p:cNvSpPr txBox="1"/>
          <p:nvPr/>
        </p:nvSpPr>
        <p:spPr>
          <a:xfrm>
            <a:off x="147600" y="885625"/>
            <a:ext cx="52587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High return rate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Low awareness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Demand concentrated in few resources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Midday peak usage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Students want more events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37" name="Google Shape;437;p38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ative and innovation inspiration. Business and Technology idea concept. 3D Rendering. (Provided by Getty Images)" id="438" name="Google Shape;43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925" y="2234875"/>
            <a:ext cx="4063073" cy="2227925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09475"/>
            <a:ext cx="9144001" cy="934031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4" name="Google Shape;44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450" y="0"/>
            <a:ext cx="7841399" cy="4165749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49" name="Google Shape;449;p4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50" name="Google Shape;450;p4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51" name="Google Shape;451;p4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52" name="Google Shape;452;p4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0"/>
          <p:cNvSpPr txBox="1"/>
          <p:nvPr>
            <p:ph type="title"/>
          </p:nvPr>
        </p:nvSpPr>
        <p:spPr>
          <a:xfrm>
            <a:off x="34075" y="172550"/>
            <a:ext cx="1683300" cy="10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latin typeface="Lora"/>
                <a:ea typeface="Lora"/>
                <a:cs typeface="Lora"/>
                <a:sym typeface="Lora"/>
              </a:rPr>
              <a:t>Event</a:t>
            </a:r>
            <a:endParaRPr b="1" sz="282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>
                <a:latin typeface="Lora"/>
                <a:ea typeface="Lora"/>
                <a:cs typeface="Lora"/>
                <a:sym typeface="Lora"/>
              </a:rPr>
              <a:t>Insights</a:t>
            </a:r>
            <a:endParaRPr b="1" sz="282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40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20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0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0825" y="0"/>
            <a:ext cx="4711547" cy="4462800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62" name="Google Shape;462;p4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/>
          <p:nvPr/>
        </p:nvSpPr>
        <p:spPr>
          <a:xfrm>
            <a:off x="0" y="4557500"/>
            <a:ext cx="9144000" cy="5859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ownload Gold Swirl Design Png PNG Image with No Background - PNGkey.com" id="464" name="Google Shape;464;p4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65" name="Google Shape;465;p4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66" name="Google Shape;466;p41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7282" y="4459200"/>
            <a:ext cx="2177701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1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9600" y="0"/>
            <a:ext cx="6592099" cy="45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>
            <p:ph type="title"/>
          </p:nvPr>
        </p:nvSpPr>
        <p:spPr>
          <a:xfrm>
            <a:off x="5066400" y="0"/>
            <a:ext cx="40776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latin typeface="Lora"/>
                <a:ea typeface="Lora"/>
                <a:cs typeface="Lora"/>
                <a:sym typeface="Lora"/>
              </a:rPr>
              <a:t>Moving Average of Student Drop In-Center </a:t>
            </a:r>
            <a:r>
              <a:rPr b="1" lang="en" sz="2020">
                <a:latin typeface="Lora"/>
                <a:ea typeface="Lora"/>
                <a:cs typeface="Lora"/>
                <a:sym typeface="Lora"/>
              </a:rPr>
              <a:t>Visits</a:t>
            </a:r>
            <a:r>
              <a:rPr b="1" lang="en" sz="2020">
                <a:latin typeface="Lora"/>
                <a:ea typeface="Lora"/>
                <a:cs typeface="Lora"/>
                <a:sym typeface="Lora"/>
              </a:rPr>
              <a:t> per week</a:t>
            </a:r>
            <a:endParaRPr b="1" sz="202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75" name="Google Shape;475;p4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76" name="Google Shape;476;p4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77" name="Google Shape;477;p4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78" name="Google Shape;478;p42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Key Insights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4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 txBox="1"/>
          <p:nvPr/>
        </p:nvSpPr>
        <p:spPr>
          <a:xfrm>
            <a:off x="147600" y="885625"/>
            <a:ext cx="52587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High return rate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Low awareness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Demand concentrated in few resources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Midday peak usage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Students want more events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83" name="Google Shape;483;p42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people trying to unlock human mind with a giant golden key (Provided by Getty Images)" id="484" name="Google Shape;48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8825" y="2136275"/>
            <a:ext cx="3275177" cy="2315649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489" name="Google Shape;489;p4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90" name="Google Shape;490;p4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91" name="Google Shape;491;p4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492" name="Google Shape;492;p4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3"/>
          <p:cNvSpPr txBox="1"/>
          <p:nvPr>
            <p:ph type="title"/>
          </p:nvPr>
        </p:nvSpPr>
        <p:spPr>
          <a:xfrm>
            <a:off x="34075" y="108375"/>
            <a:ext cx="59475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Benchmarking &amp; Industry Context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5" name="Google Shape;495;p4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3"/>
          <p:cNvSpPr txBox="1"/>
          <p:nvPr/>
        </p:nvSpPr>
        <p:spPr>
          <a:xfrm>
            <a:off x="147600" y="885625"/>
            <a:ext cx="64830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Most universities offer health promotion or wellness centers with similar services (peer education, wellness resources, Drop-In support)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These programs typically focus on </a:t>
            </a: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accessibility, outreach, and student engagement initiatives</a:t>
            </a:r>
            <a:endParaRPr b="1"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However, there is </a:t>
            </a: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limited publicly available data on detailed usage analytics or demographic engagement patterns</a:t>
            </a:r>
            <a:endParaRPr b="1"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This highlights the value of our analysis in providing </a:t>
            </a: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data-driven insights that are not commonly published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97" name="Google Shape;497;p43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502" name="Google Shape;502;p4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03" name="Google Shape;503;p4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04" name="Google Shape;504;p4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05" name="Google Shape;505;p4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4"/>
          <p:cNvSpPr txBox="1"/>
          <p:nvPr>
            <p:ph type="title"/>
          </p:nvPr>
        </p:nvSpPr>
        <p:spPr>
          <a:xfrm>
            <a:off x="34063" y="108382"/>
            <a:ext cx="4275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Recommendations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07" name="Google Shape;507;p44"/>
          <p:cNvSpPr/>
          <p:nvPr/>
        </p:nvSpPr>
        <p:spPr>
          <a:xfrm>
            <a:off x="0" y="4462800"/>
            <a:ext cx="91440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8" name="Google Shape;508;p4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59730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 txBox="1"/>
          <p:nvPr/>
        </p:nvSpPr>
        <p:spPr>
          <a:xfrm>
            <a:off x="3229075" y="942575"/>
            <a:ext cx="5914800" cy="1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Increase awareness of services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Expand event-based programming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Focus on interactive/social engagement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Optimize midday staffing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510" name="Google Shape;510;p44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1925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nd awareness phrase and drawn customers. (Provided by Getty Images)" id="511" name="Google Shape;51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541800"/>
            <a:ext cx="2865900" cy="1910133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516" name="Google Shape;516;p4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104350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17" name="Google Shape;517;p4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18" name="Google Shape;518;p4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19" name="Google Shape;519;p4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5"/>
          <p:cNvSpPr txBox="1"/>
          <p:nvPr>
            <p:ph type="title"/>
          </p:nvPr>
        </p:nvSpPr>
        <p:spPr>
          <a:xfrm>
            <a:off x="311700" y="22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Conclusion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21" name="Google Shape;521;p45"/>
          <p:cNvSpPr/>
          <p:nvPr/>
        </p:nvSpPr>
        <p:spPr>
          <a:xfrm>
            <a:off x="3893225" y="4462800"/>
            <a:ext cx="5250900" cy="6807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4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-9807" y="4463279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5"/>
          <p:cNvSpPr txBox="1"/>
          <p:nvPr/>
        </p:nvSpPr>
        <p:spPr>
          <a:xfrm>
            <a:off x="427650" y="945450"/>
            <a:ext cx="8288700" cy="3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This project provides data-driven insights to improve student engagement and optimize Health Promotion services.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524" name="Google Shape;524;p45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7713" y="4459997"/>
            <a:ext cx="2006575" cy="6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5" title="IMG_4807 (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9354" y="2187300"/>
            <a:ext cx="3034634" cy="2275976"/>
          </a:xfrm>
          <a:prstGeom prst="rect">
            <a:avLst/>
          </a:prstGeom>
          <a:noFill/>
          <a:ln cap="flat" cmpd="sng" w="2857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Gold Swirl Design Png PNG Image with No Background - PNGkey.com" id="530" name="Google Shape;530;p4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3066925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31" name="Google Shape;531;p4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666350" y="3104350"/>
            <a:ext cx="34776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32" name="Google Shape;532;p4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 rot="10800000">
            <a:off x="0" y="-8"/>
            <a:ext cx="3475250" cy="203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Gold Swirl Design Png PNG Image with No Background - PNGkey.com" id="533" name="Google Shape;533;p46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5666350" y="-8"/>
            <a:ext cx="3477650" cy="20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6"/>
          <p:cNvSpPr/>
          <p:nvPr/>
        </p:nvSpPr>
        <p:spPr>
          <a:xfrm>
            <a:off x="3884075" y="4414525"/>
            <a:ext cx="5255100" cy="726900"/>
          </a:xfrm>
          <a:prstGeom prst="rect">
            <a:avLst/>
          </a:prstGeom>
          <a:solidFill>
            <a:srgbClr val="D1190D"/>
          </a:solidFill>
          <a:ln cap="flat" cmpd="sng" w="9525">
            <a:solidFill>
              <a:srgbClr val="D119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5" name="Google Shape;535;p4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1409" l="57650" r="1629" t="11401"/>
          <a:stretch/>
        </p:blipFill>
        <p:spPr>
          <a:xfrm>
            <a:off x="2172656" y="4416600"/>
            <a:ext cx="2006644" cy="7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6" title="Screenshot 2026-02-24 at 8.20.09 PM.png"/>
          <p:cNvPicPr preferRelativeResize="0"/>
          <p:nvPr/>
        </p:nvPicPr>
        <p:blipFill rotWithShape="1">
          <a:blip r:embed="rId4">
            <a:alphaModFix/>
          </a:blip>
          <a:srcRect b="10166" l="4711" r="51098" t="12644"/>
          <a:stretch/>
        </p:blipFill>
        <p:spPr>
          <a:xfrm>
            <a:off x="5" y="4419942"/>
            <a:ext cx="2177701" cy="6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6"/>
          <p:cNvSpPr txBox="1"/>
          <p:nvPr/>
        </p:nvSpPr>
        <p:spPr>
          <a:xfrm>
            <a:off x="1775250" y="2039150"/>
            <a:ext cx="55935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D1190D"/>
                </a:solidFill>
                <a:latin typeface="Lora"/>
                <a:ea typeface="Lora"/>
                <a:cs typeface="Lora"/>
                <a:sym typeface="Lora"/>
              </a:rPr>
              <a:t>Thank You</a:t>
            </a:r>
            <a:endParaRPr b="1" sz="5500">
              <a:solidFill>
                <a:srgbClr val="D1190D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